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Montserrat Medium"/>
      <p:regular r:id="rId27"/>
      <p:bold r:id="rId28"/>
      <p:italic r:id="rId29"/>
      <p:boldItalic r:id="rId30"/>
    </p:embeddedFont>
    <p:embeddedFont>
      <p:font typeface="Poppins Medium"/>
      <p:regular r:id="rId31"/>
      <p:bold r:id="rId32"/>
      <p:italic r:id="rId33"/>
      <p:boldItalic r:id="rId34"/>
    </p:embeddedFont>
    <p:embeddedFont>
      <p:font typeface="Montserrat ExtraBold"/>
      <p:bold r:id="rId35"/>
      <p:boldItalic r:id="rId36"/>
    </p:embeddedFont>
    <p:embeddedFont>
      <p:font typeface="Poppins SemiBold"/>
      <p:regular r:id="rId37"/>
      <p:bold r:id="rId38"/>
      <p:italic r:id="rId39"/>
      <p:boldItalic r:id="rId40"/>
    </p:embeddedFont>
    <p:embeddedFont>
      <p:font typeface="Poppins ExtraBold"/>
      <p:bold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Italic.fntdata"/><Relationship Id="rId20" Type="http://schemas.openxmlformats.org/officeDocument/2006/relationships/font" Target="fonts/Montserrat-bold.fntdata"/><Relationship Id="rId42" Type="http://schemas.openxmlformats.org/officeDocument/2006/relationships/font" Target="fonts/PoppinsExtraBold-boldItalic.fntdata"/><Relationship Id="rId41" Type="http://schemas.openxmlformats.org/officeDocument/2006/relationships/font" Target="fonts/PoppinsExtraBold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MontserratMedium-bold.fntdata"/><Relationship Id="rId27" Type="http://schemas.openxmlformats.org/officeDocument/2006/relationships/font" Target="fonts/Montserrat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Medium-regular.fntdata"/><Relationship Id="rId30" Type="http://schemas.openxmlformats.org/officeDocument/2006/relationships/font" Target="fonts/Montserrat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Medium-italic.fntdata"/><Relationship Id="rId10" Type="http://schemas.openxmlformats.org/officeDocument/2006/relationships/slide" Target="slides/slide5.xml"/><Relationship Id="rId32" Type="http://schemas.openxmlformats.org/officeDocument/2006/relationships/font" Target="fonts/PoppinsMedium-bold.fntdata"/><Relationship Id="rId13" Type="http://schemas.openxmlformats.org/officeDocument/2006/relationships/slide" Target="slides/slide8.xml"/><Relationship Id="rId35" Type="http://schemas.openxmlformats.org/officeDocument/2006/relationships/font" Target="fonts/MontserratExtraBold-bold.fntdata"/><Relationship Id="rId12" Type="http://schemas.openxmlformats.org/officeDocument/2006/relationships/slide" Target="slides/slide7.xml"/><Relationship Id="rId34" Type="http://schemas.openxmlformats.org/officeDocument/2006/relationships/font" Target="fonts/PoppinsMedium-boldItalic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regular.fntdata"/><Relationship Id="rId14" Type="http://schemas.openxmlformats.org/officeDocument/2006/relationships/slide" Target="slides/slide9.xml"/><Relationship Id="rId36" Type="http://schemas.openxmlformats.org/officeDocument/2006/relationships/font" Target="fonts/MontserratExtraBold-boldItalic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italic.fntdata"/><Relationship Id="rId16" Type="http://schemas.openxmlformats.org/officeDocument/2006/relationships/slide" Target="slides/slide11.xml"/><Relationship Id="rId38" Type="http://schemas.openxmlformats.org/officeDocument/2006/relationships/font" Target="fonts/PoppinsSemiBold-bold.fntdata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438fc99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e438fc996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438fc996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e438fc996e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6.jpg"/><Relationship Id="rId5" Type="http://schemas.openxmlformats.org/officeDocument/2006/relationships/image" Target="../media/image12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9299025" y="371600"/>
            <a:ext cx="3810000" cy="3810000"/>
          </a:xfrm>
          <a:prstGeom prst="roundRect">
            <a:avLst>
              <a:gd fmla="val 50000" name="adj"/>
            </a:avLst>
          </a:prstGeom>
          <a:solidFill>
            <a:srgbClr val="48A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-323850" y="4629150"/>
            <a:ext cx="2857500" cy="2857500"/>
          </a:xfrm>
          <a:prstGeom prst="roundRect">
            <a:avLst>
              <a:gd fmla="val 50000" name="adj"/>
            </a:avLst>
          </a:prstGeom>
          <a:solidFill>
            <a:srgbClr val="1F92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052812" y="5002330"/>
            <a:ext cx="639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132A1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From Static Parcels to Living Land Intelligence.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4343450" y="6076720"/>
            <a:ext cx="3810000" cy="57300"/>
          </a:xfrm>
          <a:prstGeom prst="rect">
            <a:avLst/>
          </a:prstGeom>
          <a:solidFill>
            <a:srgbClr val="1F92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671112" y="4106292"/>
            <a:ext cx="355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1F923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toka ime </a:t>
            </a:r>
            <a:endParaRPr b="0" i="0" sz="1400" u="none" cap="none" strike="noStrike">
              <a:solidFill>
                <a:srgbClr val="1F92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3" title="logoja 2.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9900" y="795463"/>
            <a:ext cx="2975300" cy="3310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32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Data Roadmap Title"/>
          <p:cNvSpPr txBox="1"/>
          <p:nvPr/>
        </p:nvSpPr>
        <p:spPr>
          <a:xfrm>
            <a:off x="650000" y="650000"/>
            <a:ext cx="10900000" cy="72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>
              <a:buNone/>
            </a:pPr>
            <a:r>
              <a:rPr lang="en-US" sz="3900" b="1">
                <a:solidFill>
                  <a:srgbClr val="FFFFFF"/>
                </a:solidFill>
                <a:latin typeface="Poppins ExtraBold"/>
              </a:rPr>
              <a:t>Data Foundation &amp; Roadmap</a:t>
            </a:r>
          </a:p>
        </p:txBody>
      </p:sp>
      <p:sp>
        <p:nvSpPr>
          <p:cNvPr id="1002" name="Data Roadmap Subtitle"/>
          <p:cNvSpPr txBox="1"/>
          <p:nvPr/>
        </p:nvSpPr>
        <p:spPr>
          <a:xfrm>
            <a:off x="660000" y="1350000"/>
            <a:ext cx="10250000" cy="52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>
              <a:buNone/>
            </a:pPr>
            <a:r>
              <a:rPr lang="en-US" sz="1700">
                <a:solidFill>
                  <a:srgbClr val="DDE8DD"/>
                </a:solidFill>
                <a:latin typeface="Montserrat Medium"/>
              </a:rPr>
              <a:t>The prototype demonstrates the workflow today; production connects it to trusted earth-observation data.</a:t>
            </a:r>
          </a:p>
        </p:txBody>
      </p:sp>
      <p:sp>
        <p:nvSpPr>
          <p:cNvPr id="1003" name="Data Roadmap Body"/>
          <p:cNvSpPr txBox="1"/>
          <p:nvPr/>
        </p:nvSpPr>
        <p:spPr>
          <a:xfrm>
            <a:off x="760000" y="2100000"/>
            <a:ext cx="10550000" cy="3000000"/>
          </a:xfrm>
          <a:prstGeom prst="roundRect">
            <a:avLst/>
          </a:prstGeom>
          <a:solidFill>
            <a:srgbClr val="132A13">
              <a:alpha val="78000"/>
            </a:srgbClr>
          </a:solidFill>
          <a:ln w="12700">
            <a:solidFill>
              <a:srgbClr val="7A9E7C"/>
            </a:solidFill>
          </a:ln>
        </p:spPr>
        <p:txBody>
          <a:bodyPr anchor="t" lIns="280000" rIns="280000" tIns="230000" bIns="200000" wrap="square">
            <a:spAutoFit/>
          </a:bodyPr>
          <a:lstStyle/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Montserrat SemiBold"/>
              </a:rPr>
              <a:t>Copernicus Browser</a:t>
            </a:r>
            <a:r>
              <a:rPr lang="en-US" sz="1800">
                <a:solidFill>
                  <a:srgbClr val="DDE8DD"/>
                </a:solidFill>
                <a:latin typeface="Montserrat Medium"/>
              </a:rPr>
              <a:t> - Sentinel imagery search, visualization, and download for parcel checks.</a:t>
            </a:r>
          </a:p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Montserrat SemiBold"/>
              </a:rPr>
              <a:t>Copernicus Land Monitoring Service</a:t>
            </a:r>
            <a:r>
              <a:rPr lang="en-US" sz="1800">
                <a:solidFill>
                  <a:srgbClr val="DDE8DD"/>
                </a:solidFill>
                <a:latin typeface="Montserrat Medium"/>
              </a:rPr>
              <a:t> - land cover, land use, vegetation state, water cycle, and surface variables.</a:t>
            </a:r>
          </a:p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Montserrat SemiBold"/>
              </a:rPr>
              <a:t>BigEarthNet / TU Berlin</a:t>
            </a:r>
            <a:r>
              <a:rPr lang="en-US" sz="1800">
                <a:solidFill>
                  <a:srgbClr val="DDE8DD"/>
                </a:solidFill>
                <a:latin typeface="Montserrat Medium"/>
              </a:rPr>
              <a:t> - 590,326 Sentinel-2 patches across Europe, including Kosovo, for land-cover classification research.</a:t>
            </a:r>
          </a:p>
          <a:p>
            <a:pPr algn="l">
              <a:buNone/>
            </a:pPr>
            <a:r>
              <a:rPr lang="en-US" sz="1800" b="1">
                <a:solidFill>
                  <a:srgbClr val="FFFFFF"/>
                </a:solidFill>
                <a:latin typeface="Montserrat SemiBold"/>
              </a:rPr>
              <a:t>Crop-classification ML references</a:t>
            </a:r>
            <a:r>
              <a:rPr lang="en-US" sz="1800">
                <a:solidFill>
                  <a:srgbClr val="DDE8DD"/>
                </a:solidFill>
                <a:latin typeface="Montserrat Medium"/>
              </a:rPr>
              <a:t> - model direction for future crop prediction from satellite imagery.</a:t>
            </a:r>
          </a:p>
        </p:txBody>
      </p:sp>
      <p:sp>
        <p:nvSpPr>
          <p:cNvPr id="1004" name="Data Roadmap Footnote"/>
          <p:cNvSpPr txBox="1"/>
          <p:nvPr/>
        </p:nvSpPr>
        <p:spPr>
          <a:xfrm>
            <a:off x="780000" y="5450000"/>
            <a:ext cx="10500000" cy="65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spAutoFit/>
          </a:bodyPr>
          <a:lstStyle/>
          <a:p>
            <a:pPr algn="l">
              <a:buNone/>
            </a:pPr>
            <a:r>
              <a:rPr lang="en-US" sz="1450" i="1">
                <a:solidFill>
                  <a:srgbClr val="BFD4BF"/>
                </a:solidFill>
                <a:latin typeface="Montserrat Medium"/>
              </a:rPr>
              <a:t>Prototype note: current analytics are demo intelligence; these sources define the production data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2095500" y="2183308"/>
            <a:ext cx="800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1F923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Challenge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2286000" y="3212008"/>
            <a:ext cx="76200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Cadastral systems focus on legal ownership, but ignore the actual biological and agricultural reality of the land.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/>
          <p:nvPr/>
        </p:nvSpPr>
        <p:spPr>
          <a:xfrm>
            <a:off x="411480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C6B3A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411480" y="54864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132A13"/>
                </a:solidFill>
                <a:latin typeface="Georgia"/>
                <a:ea typeface="Georgia"/>
                <a:cs typeface="Georgia"/>
                <a:sym typeface="Georgia"/>
              </a:rPr>
              <a:t>Current Systems Are Broken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320040" y="1554480"/>
            <a:ext cx="557784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783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/>
          <p:nvPr/>
        </p:nvSpPr>
        <p:spPr>
          <a:xfrm>
            <a:off x="1097280" y="175564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B1B07"/>
                </a:solidFill>
                <a:latin typeface="Calibri"/>
                <a:ea typeface="Calibri"/>
                <a:cs typeface="Calibri"/>
                <a:sym typeface="Calibri"/>
              </a:rPr>
              <a:t>Fragmented Registries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502920" y="228600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Land data is scattered across incompatible systems. No single source of truth exists.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6217920" y="1554480"/>
            <a:ext cx="557784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783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6995160" y="175564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B1B07"/>
                </a:solidFill>
                <a:latin typeface="Calibri"/>
                <a:ea typeface="Calibri"/>
                <a:cs typeface="Calibri"/>
                <a:sym typeface="Calibri"/>
              </a:rPr>
              <a:t>Subsidy Fraud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6400800" y="228600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Farmers report inflated land areas. The state pays over 28% in fraudulent claims every year.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320040" y="3840480"/>
            <a:ext cx="557784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069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1097280" y="404164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B1B07"/>
                </a:solidFill>
                <a:latin typeface="Calibri"/>
                <a:ea typeface="Calibri"/>
                <a:cs typeface="Calibri"/>
                <a:sym typeface="Calibri"/>
              </a:rPr>
              <a:t>Paper-Based Reports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502920" y="457200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Officials rely on manual documentation. Errors and delays harm policy decisions.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6217920" y="3840480"/>
            <a:ext cx="557784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40690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/>
          <p:nvPr/>
        </p:nvSpPr>
        <p:spPr>
          <a:xfrm>
            <a:off x="6995160" y="404164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B1B07"/>
                </a:solidFill>
                <a:latin typeface="Calibri"/>
                <a:ea typeface="Calibri"/>
                <a:cs typeface="Calibri"/>
                <a:sym typeface="Calibri"/>
              </a:rPr>
              <a:t>No Real-Time Monitoring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400800" y="457200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Crop damage and illegal land changes go undetected for months.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5625" y="381000"/>
            <a:ext cx="100012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666750" y="476250"/>
            <a:ext cx="108585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Fallow Land Crisis</a:t>
            </a:r>
            <a:endParaRPr b="0" i="0" sz="4800" u="none" cap="none" strike="noStrike">
              <a:solidFill>
                <a:srgbClr val="132A13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1333500" y="1714500"/>
            <a:ext cx="9525000" cy="42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91C1C"/>
                </a:solidFill>
                <a:latin typeface="Montserrat"/>
                <a:ea typeface="Montserrat"/>
                <a:cs typeface="Montserrat"/>
                <a:sym typeface="Montserrat"/>
              </a:rPr>
              <a:t>According to ASK (2024):</a:t>
            </a:r>
            <a:endParaRPr b="1" i="0" sz="2400" u="none" cap="none" strike="noStrike">
              <a:solidFill>
                <a:srgbClr val="B91C1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B91C1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6,429.78 Hectares</a:t>
            </a:r>
            <a:endParaRPr b="0" i="0" sz="7200" u="none" cap="none" strike="noStrike">
              <a:solidFill>
                <a:srgbClr val="B91C1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Agricultural land in Kosovo remains completely </a:t>
            </a:r>
            <a:r>
              <a:rPr b="0" i="0" lang="en-US" sz="2800" u="none" cap="none" strike="noStrike">
                <a:solidFill>
                  <a:srgbClr val="132A1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FALLOW</a:t>
            </a:r>
            <a:r>
              <a:rPr b="0" i="0" lang="en-US" sz="28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b="0" i="0" sz="2800" u="none" cap="none" strike="noStrike">
              <a:solidFill>
                <a:srgbClr val="4B1B0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10359725" y="162800"/>
            <a:ext cx="1832400" cy="1454700"/>
          </a:xfrm>
          <a:prstGeom prst="rect">
            <a:avLst/>
          </a:prstGeom>
          <a:solidFill>
            <a:srgbClr val="F4FC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CD9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333625"/>
            <a:ext cx="5143500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90750"/>
            <a:ext cx="514350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15625" y="381000"/>
            <a:ext cx="100012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666750" y="47625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The Solution: Living Land Registry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666750" y="1143000"/>
            <a:ext cx="10858500" cy="38100"/>
          </a:xfrm>
          <a:prstGeom prst="rect">
            <a:avLst/>
          </a:prstGeom>
          <a:solidFill>
            <a:srgbClr val="48A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666750" y="5276850"/>
            <a:ext cx="10858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32A13"/>
                </a:solidFill>
                <a:latin typeface="Montserrat"/>
                <a:ea typeface="Montserrat"/>
                <a:cs typeface="Montserrat"/>
                <a:sym typeface="Montserrat"/>
              </a:rPr>
              <a:t>Prototype architecture: GIS parcels, AI risk scoring, and an audit-ready crop history.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2" name="Google Shape;14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6670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952500" y="3048000"/>
            <a:ext cx="480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0" i="0" lang="en-US" sz="1404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Audit Trail &amp; Transparency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952500" y="3514725"/>
            <a:ext cx="457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Every planting cycle can be recorded as a verified history event, reducing false reports and making subsidy decisions easier to audit.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5" name="Google Shape;14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67500" y="25241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6667500" y="2905125"/>
            <a:ext cx="480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0" i="0" lang="en-US" sz="1404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Chatbot &amp; Assistance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6667500" y="3371850"/>
            <a:ext cx="4572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Our AI assistant guides farmers on crop rotation and helps institutions generate parcel-level reports faster.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10359725" y="162800"/>
            <a:ext cx="1832400" cy="923400"/>
          </a:xfrm>
          <a:prstGeom prst="rect">
            <a:avLst/>
          </a:prstGeom>
          <a:solidFill>
            <a:srgbClr val="F4FC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5625" y="381000"/>
            <a:ext cx="100012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666750" y="47625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Functional Prototype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666750" y="1143000"/>
            <a:ext cx="10858500" cy="38100"/>
          </a:xfrm>
          <a:prstGeom prst="rect">
            <a:avLst/>
          </a:prstGeom>
          <a:solidFill>
            <a:srgbClr val="48A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p19"/>
          <p:cNvGrpSpPr/>
          <p:nvPr/>
        </p:nvGrpSpPr>
        <p:grpSpPr>
          <a:xfrm>
            <a:off x="666750" y="1524000"/>
            <a:ext cx="10858500" cy="4572000"/>
            <a:chOff x="666750" y="1524000"/>
            <a:chExt cx="10858500" cy="4572000"/>
          </a:xfrm>
        </p:grpSpPr>
        <p:sp>
          <p:nvSpPr>
            <p:cNvPr id="157" name="Google Shape;157;p19"/>
            <p:cNvSpPr/>
            <p:nvPr/>
          </p:nvSpPr>
          <p:spPr>
            <a:xfrm>
              <a:off x="666750" y="1524000"/>
              <a:ext cx="5143500" cy="4572000"/>
            </a:xfrm>
            <a:prstGeom prst="roundRect">
              <a:avLst>
                <a:gd fmla="val 312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8" name="Google Shape;158;p19"/>
            <p:cNvPicPr preferRelativeResize="0"/>
            <p:nvPr/>
          </p:nvPicPr>
          <p:blipFill rotWithShape="1">
            <a:blip r:embed="rId4">
              <a:alphaModFix/>
            </a:blip>
            <a:srcRect b="0" l="397" r="397" t="0"/>
            <a:stretch/>
          </p:blipFill>
          <p:spPr>
            <a:xfrm>
              <a:off x="857250" y="1714500"/>
              <a:ext cx="4762500" cy="2667000"/>
            </a:xfrm>
            <a:prstGeom prst="roundRect">
              <a:avLst>
                <a:gd fmla="val 3571" name="adj"/>
              </a:avLst>
            </a:prstGeom>
            <a:noFill/>
            <a:ln>
              <a:noFill/>
            </a:ln>
          </p:spPr>
        </p:pic>
        <p:grpSp>
          <p:nvGrpSpPr>
            <p:cNvPr id="159" name="Google Shape;159;p19"/>
            <p:cNvGrpSpPr/>
            <p:nvPr/>
          </p:nvGrpSpPr>
          <p:grpSpPr>
            <a:xfrm>
              <a:off x="857250" y="4572000"/>
              <a:ext cx="4762500" cy="762000"/>
              <a:chOff x="857250" y="4572000"/>
              <a:chExt cx="4762500" cy="762000"/>
            </a:xfrm>
          </p:grpSpPr>
          <p:sp>
            <p:nvSpPr>
              <p:cNvPr id="160" name="Google Shape;160;p19"/>
              <p:cNvSpPr/>
              <p:nvPr/>
            </p:nvSpPr>
            <p:spPr>
              <a:xfrm>
                <a:off x="857250" y="4572000"/>
                <a:ext cx="762000" cy="571500"/>
              </a:xfrm>
              <a:prstGeom prst="roundRect">
                <a:avLst>
                  <a:gd fmla="val 6666" name="adj"/>
                </a:avLst>
              </a:prstGeom>
              <a:solidFill>
                <a:srgbClr val="EF444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19"/>
              <p:cNvSpPr/>
              <p:nvPr/>
            </p:nvSpPr>
            <p:spPr>
              <a:xfrm>
                <a:off x="1714500" y="4572000"/>
                <a:ext cx="762000" cy="762000"/>
              </a:xfrm>
              <a:prstGeom prst="roundRect">
                <a:avLst>
                  <a:gd fmla="val 5000" name="adj"/>
                </a:avLst>
              </a:prstGeom>
              <a:solidFill>
                <a:srgbClr val="1F92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9"/>
              <p:cNvSpPr txBox="1"/>
              <p:nvPr/>
            </p:nvSpPr>
            <p:spPr>
              <a:xfrm>
                <a:off x="2571750" y="4572000"/>
                <a:ext cx="3048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132A13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Integrated Semaphore System</a:t>
                </a:r>
                <a:endParaRPr b="0" i="0" sz="1400" u="none" cap="none" strike="noStrike">
                  <a:solidFill>
                    <a:srgbClr val="132A13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</p:txBody>
          </p:sp>
        </p:grpSp>
        <p:sp>
          <p:nvSpPr>
            <p:cNvPr id="163" name="Google Shape;163;p19"/>
            <p:cNvSpPr txBox="1"/>
            <p:nvPr/>
          </p:nvSpPr>
          <p:spPr>
            <a:xfrm>
              <a:off x="857250" y="552450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4B1B07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View of the functional platform interface.</a:t>
              </a:r>
              <a:endParaRPr b="0" i="0" sz="1100" u="none" cap="none" strike="noStrike">
                <a:solidFill>
                  <a:srgbClr val="4B1B07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64" name="Google Shape;164;p19"/>
            <p:cNvSpPr/>
            <p:nvPr/>
          </p:nvSpPr>
          <p:spPr>
            <a:xfrm>
              <a:off x="6381750" y="1524000"/>
              <a:ext cx="5143500" cy="4572000"/>
            </a:xfrm>
            <a:prstGeom prst="roundRect">
              <a:avLst>
                <a:gd fmla="val 3125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9"/>
            <p:cNvSpPr txBox="1"/>
            <p:nvPr/>
          </p:nvSpPr>
          <p:spPr>
            <a:xfrm>
              <a:off x="6667500" y="1809750"/>
              <a:ext cx="457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132A13"/>
                  </a:solidFill>
                  <a:latin typeface="Poppins ExtraBold"/>
                  <a:ea typeface="Poppins ExtraBold"/>
                  <a:cs typeface="Poppins ExtraBold"/>
                  <a:sym typeface="Poppins ExtraBold"/>
                </a:rPr>
                <a:t>Prototype Intelligence</a:t>
              </a:r>
              <a:endParaRPr b="0" i="0" sz="2000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endParaRPr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6667500" y="2286000"/>
              <a:ext cx="4572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B1B07"/>
                </a:buClr>
                <a:buSzPts val="1400"/>
                <a:buFont typeface="Montserrat"/>
                <a:buChar char="●"/>
              </a:pPr>
              <a:r>
                <a:rPr b="0" i="0" lang="en-US" sz="1400" u="none" cap="none" strike="noStrike">
                  <a:solidFill>
                    <a:srgbClr val="4B1B0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Satellite Monitoring Roadmap</a:t>
              </a:r>
              <a:endParaRPr b="0" i="0" sz="1400" u="none" cap="none" strike="noStrike">
                <a:solidFill>
                  <a:srgbClr val="4B1B0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4B1B07"/>
                </a:buClr>
                <a:buSzPts val="1400"/>
                <a:buFont typeface="Montserrat"/>
                <a:buChar char="●"/>
              </a:pPr>
              <a:r>
                <a:rPr b="0" i="0" lang="en-US" sz="1400" u="none" cap="none" strike="noStrike">
                  <a:solidFill>
                    <a:srgbClr val="4B1B0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AI Assistant Workflow</a:t>
              </a:r>
              <a:endParaRPr b="0" i="0" sz="1400" u="none" cap="none" strike="noStrike">
                <a:solidFill>
                  <a:srgbClr val="4B1B0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4B1B07"/>
                </a:buClr>
                <a:buSzPts val="1400"/>
                <a:buFont typeface="Montserrat"/>
                <a:buChar char="●"/>
              </a:pPr>
              <a:r>
                <a:rPr b="0" i="0" lang="en-US" sz="1400" u="none" cap="none" strike="noStrike">
                  <a:solidFill>
                    <a:srgbClr val="4B1B0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Monoculture Risk Alerts</a:t>
              </a:r>
              <a:endParaRPr b="0" i="0" sz="1400" u="none" cap="none" strike="noStrike">
                <a:solidFill>
                  <a:srgbClr val="4B1B0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67" name="Google Shape;167;p19"/>
            <p:cNvPicPr preferRelativeResize="0"/>
            <p:nvPr/>
          </p:nvPicPr>
          <p:blipFill rotWithShape="1">
            <a:blip r:embed="rId5">
              <a:alphaModFix/>
            </a:blip>
            <a:srcRect b="18750" l="0" r="0" t="18750"/>
            <a:stretch/>
          </p:blipFill>
          <p:spPr>
            <a:xfrm>
              <a:off x="6667500" y="3905250"/>
              <a:ext cx="4572000" cy="1905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</p:grpSp>
      <p:pic>
        <p:nvPicPr>
          <p:cNvPr id="168" name="Google Shape;168;p19"/>
          <p:cNvPicPr preferRelativeResize="0"/>
          <p:nvPr/>
        </p:nvPicPr>
        <p:blipFill rotWithShape="1">
          <a:blip r:embed="rId6">
            <a:alphaModFix/>
          </a:blip>
          <a:srcRect b="18019" l="0" r="0" t="0"/>
          <a:stretch/>
        </p:blipFill>
        <p:spPr>
          <a:xfrm>
            <a:off x="819150" y="1641025"/>
            <a:ext cx="4789724" cy="272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10359725" y="162800"/>
            <a:ext cx="1832400" cy="923400"/>
          </a:xfrm>
          <a:prstGeom prst="rect">
            <a:avLst/>
          </a:prstGeom>
          <a:solidFill>
            <a:srgbClr val="F4FC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671762"/>
            <a:ext cx="514350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5625" y="381000"/>
            <a:ext cx="100012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666750" y="47625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Market Opportunity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666750" y="1143000"/>
            <a:ext cx="10858500" cy="38100"/>
          </a:xfrm>
          <a:prstGeom prst="rect">
            <a:avLst/>
          </a:prstGeom>
          <a:solidFill>
            <a:srgbClr val="48A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66750" y="2786062"/>
            <a:ext cx="514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Under the MAFRD 2025-2028 Digital Agriculture Program, there is an urgent need for integration with IPARD and the EU.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66750" y="3833812"/>
            <a:ext cx="540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0" i="0" lang="en-US" sz="1404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Early Traction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66750" y="4300537"/>
            <a:ext cx="5143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Tested with farmers in the Prizren region: </a:t>
            </a:r>
            <a:r>
              <a:rPr b="1" i="0" lang="en-US" sz="1500" u="none" cap="none" strike="noStrike">
                <a:solidFill>
                  <a:srgbClr val="4B1B07"/>
                </a:solidFill>
                <a:latin typeface="Montserrat"/>
                <a:ea typeface="Montserrat"/>
                <a:cs typeface="Montserrat"/>
                <a:sym typeface="Montserrat"/>
              </a:rPr>
              <a:t>90%</a:t>
            </a:r>
            <a:r>
              <a:rPr b="0" i="0" lang="en-US" sz="15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confirmed this solution would save weeks of paperwork.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6703218" y="3100387"/>
            <a:ext cx="4500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132A13"/>
                </a:solidFill>
                <a:latin typeface="Montserrat"/>
                <a:ea typeface="Montserrat"/>
                <a:cs typeface="Montserrat"/>
                <a:sym typeface="Montserrat"/>
              </a:rPr>
              <a:t>400K+ 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810375" y="3986212"/>
            <a:ext cx="4286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923B"/>
                </a:solidFill>
                <a:latin typeface="Montserrat"/>
                <a:ea typeface="Montserrat"/>
                <a:cs typeface="Montserrat"/>
                <a:sym typeface="Montserrat"/>
              </a:rPr>
              <a:t>Potential Market in Kosovo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810375" y="4462462"/>
            <a:ext cx="42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Potential expansion across 38 municipalities.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0359725" y="162800"/>
            <a:ext cx="1832400" cy="923400"/>
          </a:xfrm>
          <a:prstGeom prst="rect">
            <a:avLst/>
          </a:prstGeom>
          <a:solidFill>
            <a:srgbClr val="F4FC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571750"/>
            <a:ext cx="514350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71750"/>
            <a:ext cx="514350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5625" y="381000"/>
            <a:ext cx="100012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666750" y="47625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Business Model (Revenue Streams)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666750" y="1143000"/>
            <a:ext cx="10858500" cy="38100"/>
          </a:xfrm>
          <a:prstGeom prst="rect">
            <a:avLst/>
          </a:prstGeom>
          <a:solidFill>
            <a:srgbClr val="48A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666750" y="4895850"/>
            <a:ext cx="10858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4B1B07"/>
                </a:solidFill>
                <a:latin typeface="Montserrat"/>
                <a:ea typeface="Montserrat"/>
                <a:cs typeface="Montserrat"/>
                <a:sym typeface="Montserrat"/>
              </a:rPr>
              <a:t>Projected ARR (2027): €120,000+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952500" y="2905125"/>
            <a:ext cx="480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0" i="0" lang="en-US" sz="1404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B2G SaaS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952500" y="3371850"/>
            <a:ext cx="4572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Annual licenses for municipalities and the Ministry for parcel management.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6667500" y="2905125"/>
            <a:ext cx="480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0" i="0" lang="en-US" sz="1404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B2B Analytics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6667500" y="3371850"/>
            <a:ext cx="4572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Banks and Insurance: Data for land risk assessment.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10359725" y="162800"/>
            <a:ext cx="1832400" cy="923400"/>
          </a:xfrm>
          <a:prstGeom prst="rect">
            <a:avLst/>
          </a:prstGeom>
          <a:solidFill>
            <a:srgbClr val="F4FC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4FCD9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411480" y="164592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32A13"/>
                </a:solidFill>
                <a:latin typeface="Georgia"/>
                <a:ea typeface="Georgia"/>
                <a:cs typeface="Georgia"/>
                <a:sym typeface="Georgia"/>
              </a:rPr>
              <a:t>SWOT Analysis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411480" y="841248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6B3A"/>
                </a:solidFill>
                <a:latin typeface="Calibri"/>
                <a:ea typeface="Calibri"/>
                <a:cs typeface="Calibri"/>
                <a:sym typeface="Calibri"/>
              </a:rPr>
              <a:t>Toka Ime AI — Strategic Position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320040" y="1261872"/>
            <a:ext cx="5577840" cy="2468880"/>
          </a:xfrm>
          <a:prstGeom prst="rect">
            <a:avLst/>
          </a:prstGeom>
          <a:solidFill>
            <a:srgbClr val="DCFCE7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320040" y="1261872"/>
            <a:ext cx="5577840" cy="384048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429768" y="1261872"/>
            <a:ext cx="53583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  Strengths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429768" y="1700784"/>
            <a:ext cx="53218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Unified GIS, parcel intelligence, and audit-history architecture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Satellite-based monitoring roadmap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AI chatbot for farmers &amp; institutions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Functional prototype with React app and HTML demo views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Strong team across RIT, UBT &amp; FSHMN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6217920" y="1261872"/>
            <a:ext cx="5577840" cy="2468880"/>
          </a:xfrm>
          <a:prstGeom prst="rect">
            <a:avLst/>
          </a:prstGeom>
          <a:solidFill>
            <a:srgbClr val="FEF9C3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6217920" y="1261872"/>
            <a:ext cx="5577840" cy="38404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6327648" y="1261872"/>
            <a:ext cx="53583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  Weaknesses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6327648" y="1700784"/>
            <a:ext cx="53218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Early-stage startup — limited track record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B2G sales cycles are long and slow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Dependent on government adoption &amp; policy alignment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Small team managing complex tech stack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320040" y="3822192"/>
            <a:ext cx="5577840" cy="2468880"/>
          </a:xfrm>
          <a:prstGeom prst="rect">
            <a:avLst/>
          </a:prstGeom>
          <a:solidFill>
            <a:srgbClr val="EFF6FF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320040" y="3822192"/>
            <a:ext cx="5577840" cy="38404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>
            <a:off x="429768" y="3822192"/>
            <a:ext cx="53583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 Opportunities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429768" y="4261104"/>
            <a:ext cx="53218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MAFRD 2025-2028 Digital Agriculture Programme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EU IPARD integration requirements for Kosovo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400K+ Ha addressable market across 38 municipalities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Neighbouring Balkan countries face same problems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6217920" y="3822192"/>
            <a:ext cx="5577840" cy="2468880"/>
          </a:xfrm>
          <a:prstGeom prst="rect">
            <a:avLst/>
          </a:prstGeom>
          <a:solidFill>
            <a:srgbClr val="FEF2F2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6217920" y="3822192"/>
            <a:ext cx="5577840" cy="38404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6327648" y="3822192"/>
            <a:ext cx="53583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  Threats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6327648" y="4261104"/>
            <a:ext cx="5321808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Government budget constraints &amp; procurement delays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Larger EU GIS vendors entering the Balkan market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Data privacy regulations around land &amp; farmer data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Low digital literacy among rural farmers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C6B3A"/>
                </a:solidFill>
                <a:latin typeface="Montserrat"/>
                <a:ea typeface="Montserrat"/>
                <a:cs typeface="Montserrat"/>
                <a:sym typeface="Montserrat"/>
              </a:rPr>
              <a:t>THE TRANSFORMATION OF AGRICULTURAL GOVERNANCE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132A13"/>
                </a:solidFill>
                <a:latin typeface="Georgia"/>
                <a:ea typeface="Georgia"/>
                <a:cs typeface="Georgia"/>
                <a:sym typeface="Georgia"/>
              </a:rPr>
              <a:t>Before  vs  After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320040" y="1417320"/>
            <a:ext cx="5074920" cy="5029200"/>
          </a:xfrm>
          <a:prstGeom prst="rect">
            <a:avLst/>
          </a:prstGeom>
          <a:solidFill>
            <a:srgbClr val="FEF9C3"/>
          </a:solidFill>
          <a:ln cap="flat" cmpd="sng" w="254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320040" y="1417320"/>
            <a:ext cx="5074920" cy="594360"/>
          </a:xfrm>
          <a:prstGeom prst="rect">
            <a:avLst/>
          </a:prstGeom>
          <a:solidFill>
            <a:srgbClr val="FEF3C7"/>
          </a:solidFill>
          <a:ln cap="flat" cmpd="sng" w="25400">
            <a:solidFill>
              <a:srgbClr val="9240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"/>
          <p:cNvSpPr/>
          <p:nvPr/>
        </p:nvSpPr>
        <p:spPr>
          <a:xfrm>
            <a:off x="320040" y="1417320"/>
            <a:ext cx="5074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2402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3"/>
          <p:cNvSpPr/>
          <p:nvPr/>
        </p:nvSpPr>
        <p:spPr>
          <a:xfrm>
            <a:off x="960120" y="221284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B1B07"/>
                </a:solidFill>
                <a:latin typeface="Calibri"/>
                <a:ea typeface="Calibri"/>
                <a:cs typeface="Calibri"/>
                <a:sym typeface="Calibri"/>
              </a:rPr>
              <a:t>Fragmented registries across systems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5" name="Google Shape;2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313639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/>
          <p:nvPr/>
        </p:nvSpPr>
        <p:spPr>
          <a:xfrm>
            <a:off x="960120" y="3108960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B1B07"/>
                </a:solidFill>
                <a:latin typeface="Calibri"/>
                <a:ea typeface="Calibri"/>
                <a:cs typeface="Calibri"/>
                <a:sym typeface="Calibri"/>
              </a:rPr>
              <a:t>Manual paper reports with errors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03250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/>
          <p:nvPr/>
        </p:nvSpPr>
        <p:spPr>
          <a:xfrm>
            <a:off x="960120" y="4005072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B1B07"/>
                </a:solidFill>
                <a:latin typeface="Calibri"/>
                <a:ea typeface="Calibri"/>
                <a:cs typeface="Calibri"/>
                <a:sym typeface="Calibri"/>
              </a:rPr>
              <a:t>Unverified subsidy claims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9" name="Google Shape;2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92861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/>
          <p:nvPr/>
        </p:nvSpPr>
        <p:spPr>
          <a:xfrm>
            <a:off x="960120" y="4901184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B1B07"/>
                </a:solidFill>
                <a:latin typeface="Calibri"/>
                <a:ea typeface="Calibri"/>
                <a:cs typeface="Calibri"/>
                <a:sym typeface="Calibri"/>
              </a:rPr>
              <a:t>No real-time field monitoring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440680" y="3154680"/>
            <a:ext cx="1280160" cy="594360"/>
          </a:xfrm>
          <a:prstGeom prst="rect">
            <a:avLst/>
          </a:prstGeom>
          <a:solidFill>
            <a:srgbClr val="132A13"/>
          </a:solidFill>
          <a:ln cap="flat" cmpd="sng" w="12700">
            <a:solidFill>
              <a:srgbClr val="132A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440680" y="3154680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6766560" y="1417320"/>
            <a:ext cx="5074920" cy="5029200"/>
          </a:xfrm>
          <a:prstGeom prst="rect">
            <a:avLst/>
          </a:prstGeom>
          <a:solidFill>
            <a:srgbClr val="F0FDF4"/>
          </a:solidFill>
          <a:ln cap="flat" cmpd="sng" w="25400">
            <a:solidFill>
              <a:srgbClr val="1F9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6766560" y="1417320"/>
            <a:ext cx="5074920" cy="594360"/>
          </a:xfrm>
          <a:prstGeom prst="rect">
            <a:avLst/>
          </a:prstGeom>
          <a:solidFill>
            <a:srgbClr val="DCFCE7"/>
          </a:solidFill>
          <a:ln cap="flat" cmpd="sng" w="25400">
            <a:solidFill>
              <a:srgbClr val="1F9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6766560" y="1417320"/>
            <a:ext cx="5074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F923B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6" name="Google Shape;24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9440" y="22402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/>
          <p:nvPr/>
        </p:nvSpPr>
        <p:spPr>
          <a:xfrm>
            <a:off x="7406640" y="2212848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32A13"/>
                </a:solidFill>
                <a:latin typeface="Calibri"/>
                <a:ea typeface="Calibri"/>
                <a:cs typeface="Calibri"/>
                <a:sym typeface="Calibri"/>
              </a:rPr>
              <a:t>Real-time parcel intelligence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8" name="Google Shape;2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9440" y="313639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/>
          <p:nvPr/>
        </p:nvSpPr>
        <p:spPr>
          <a:xfrm>
            <a:off x="7406640" y="3108960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32A13"/>
                </a:solidFill>
                <a:latin typeface="Calibri"/>
                <a:ea typeface="Calibri"/>
                <a:cs typeface="Calibri"/>
                <a:sym typeface="Calibri"/>
              </a:rPr>
              <a:t>AI risk &amp; anomaly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0" name="Google Shape;2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9440" y="403250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/>
          <p:nvPr/>
        </p:nvSpPr>
        <p:spPr>
          <a:xfrm>
            <a:off x="7406640" y="4005072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32A13"/>
                </a:solidFill>
                <a:latin typeface="Calibri"/>
                <a:ea typeface="Calibri"/>
                <a:cs typeface="Calibri"/>
                <a:sym typeface="Calibri"/>
              </a:rPr>
              <a:t>Audit-ready crop history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2" name="Google Shape;25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9440" y="492861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/>
          <p:nvPr/>
        </p:nvSpPr>
        <p:spPr>
          <a:xfrm>
            <a:off x="7406640" y="4901184"/>
            <a:ext cx="4251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32A13"/>
                </a:solidFill>
                <a:latin typeface="Calibri"/>
                <a:ea typeface="Calibri"/>
                <a:cs typeface="Calibri"/>
                <a:sym typeface="Calibri"/>
              </a:rPr>
              <a:t>Transparent subsidy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2687" r="2687" t="0"/>
          <a:stretch/>
        </p:blipFill>
        <p:spPr>
          <a:xfrm>
            <a:off x="7353300" y="1828800"/>
            <a:ext cx="1905000" cy="19050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9" name="Google Shape;259;p24"/>
          <p:cNvPicPr preferRelativeResize="0"/>
          <p:nvPr/>
        </p:nvPicPr>
        <p:blipFill rotWithShape="1">
          <a:blip r:embed="rId4">
            <a:alphaModFix/>
          </a:blip>
          <a:srcRect b="16676" l="0" r="0" t="16676"/>
          <a:stretch/>
        </p:blipFill>
        <p:spPr>
          <a:xfrm>
            <a:off x="781050" y="1828800"/>
            <a:ext cx="1905000" cy="19050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image.png" id="260" name="Google Shape;26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15625" y="381000"/>
            <a:ext cx="10001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4"/>
          <p:cNvPicPr preferRelativeResize="0"/>
          <p:nvPr/>
        </p:nvPicPr>
        <p:blipFill rotWithShape="1">
          <a:blip r:embed="rId6">
            <a:alphaModFix/>
          </a:blip>
          <a:srcRect b="11574" l="0" r="0" t="11574"/>
          <a:stretch/>
        </p:blipFill>
        <p:spPr>
          <a:xfrm>
            <a:off x="5162550" y="1828800"/>
            <a:ext cx="1905000" cy="1905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2" name="Google Shape;262;p24"/>
          <p:cNvSpPr txBox="1"/>
          <p:nvPr/>
        </p:nvSpPr>
        <p:spPr>
          <a:xfrm>
            <a:off x="666750" y="47625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Our Unique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24"/>
          <p:cNvPicPr preferRelativeResize="0"/>
          <p:nvPr/>
        </p:nvPicPr>
        <p:blipFill rotWithShape="1">
          <a:blip r:embed="rId7">
            <a:alphaModFix/>
          </a:blip>
          <a:srcRect b="0" l="5908" r="5908" t="0"/>
          <a:stretch/>
        </p:blipFill>
        <p:spPr>
          <a:xfrm>
            <a:off x="9544050" y="1828800"/>
            <a:ext cx="1905000" cy="1905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4" name="Google Shape;264;p24"/>
          <p:cNvSpPr/>
          <p:nvPr/>
        </p:nvSpPr>
        <p:spPr>
          <a:xfrm>
            <a:off x="666750" y="1143000"/>
            <a:ext cx="10858500" cy="38100"/>
          </a:xfrm>
          <a:prstGeom prst="rect">
            <a:avLst/>
          </a:prstGeom>
          <a:solidFill>
            <a:srgbClr val="48AC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781050" y="4000500"/>
            <a:ext cx="1905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A13"/>
                </a:solidFill>
                <a:latin typeface="Poppins"/>
                <a:ea typeface="Poppins"/>
                <a:cs typeface="Poppins"/>
                <a:sym typeface="Poppins"/>
              </a:rPr>
              <a:t>Riga Sadiku</a:t>
            </a:r>
            <a:endParaRPr b="1" i="0" sz="1600" u="none" cap="none" strike="noStrike">
              <a:solidFill>
                <a:srgbClr val="132A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781050" y="4286250"/>
            <a:ext cx="1905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Student at RIT Kosovo </a:t>
            </a:r>
            <a:endParaRPr b="0" i="0" sz="1100" u="none" cap="none" strike="noStrike">
              <a:solidFill>
                <a:srgbClr val="4B1B0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67" name="Google Shape;267;p24"/>
          <p:cNvPicPr preferRelativeResize="0"/>
          <p:nvPr/>
        </p:nvPicPr>
        <p:blipFill rotWithShape="1">
          <a:blip r:embed="rId8">
            <a:alphaModFix/>
          </a:blip>
          <a:srcRect b="13316" l="456" r="456" t="13316"/>
          <a:stretch/>
        </p:blipFill>
        <p:spPr>
          <a:xfrm>
            <a:off x="2971800" y="1828800"/>
            <a:ext cx="1905000" cy="1905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5162550" y="4000500"/>
            <a:ext cx="1905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A13"/>
                </a:solidFill>
                <a:latin typeface="Poppins"/>
                <a:ea typeface="Poppins"/>
                <a:cs typeface="Poppins"/>
                <a:sym typeface="Poppins"/>
              </a:rPr>
              <a:t>Jona Berbatovci</a:t>
            </a:r>
            <a:endParaRPr b="1" i="0" sz="1600" u="none" cap="none" strike="noStrike">
              <a:solidFill>
                <a:srgbClr val="132A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2971800" y="4000500"/>
            <a:ext cx="1905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A13"/>
                </a:solidFill>
                <a:latin typeface="Poppins"/>
                <a:ea typeface="Poppins"/>
                <a:cs typeface="Poppins"/>
                <a:sym typeface="Poppins"/>
              </a:rPr>
              <a:t>Olt Imeri</a:t>
            </a:r>
            <a:endParaRPr b="1" i="0" sz="1600" u="none" cap="none" strike="noStrike">
              <a:solidFill>
                <a:srgbClr val="132A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7353300" y="4000500"/>
            <a:ext cx="1905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A13"/>
                </a:solidFill>
                <a:latin typeface="Poppins"/>
                <a:ea typeface="Poppins"/>
                <a:cs typeface="Poppins"/>
                <a:sym typeface="Poppins"/>
              </a:rPr>
              <a:t>Jona Latifi</a:t>
            </a:r>
            <a:endParaRPr b="1" i="0" sz="1600" u="none" cap="none" strike="noStrike">
              <a:solidFill>
                <a:srgbClr val="132A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9544050" y="4000500"/>
            <a:ext cx="19050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A13"/>
                </a:solidFill>
                <a:latin typeface="Poppins"/>
                <a:ea typeface="Poppins"/>
                <a:cs typeface="Poppins"/>
                <a:sym typeface="Poppins"/>
              </a:rPr>
              <a:t>Eljona Salihu</a:t>
            </a:r>
            <a:endParaRPr b="1" i="0" sz="1600" u="none" cap="none" strike="noStrike">
              <a:solidFill>
                <a:srgbClr val="132A1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2971800" y="4286250"/>
            <a:ext cx="1905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Student at FSHMN</a:t>
            </a:r>
            <a:endParaRPr b="0" i="0" sz="1100" u="none" cap="none" strike="noStrike">
              <a:solidFill>
                <a:srgbClr val="4B1B0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9544050" y="4381500"/>
            <a:ext cx="1905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Student at RIT Kosovo </a:t>
            </a:r>
            <a:endParaRPr b="0" i="0" sz="1100" u="none" cap="none" strike="noStrike">
              <a:solidFill>
                <a:srgbClr val="4B1B0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5162550" y="4286250"/>
            <a:ext cx="1905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Student at RIT Kosovo </a:t>
            </a:r>
            <a:endParaRPr b="0" i="0" sz="1100" u="none" cap="none" strike="noStrike">
              <a:solidFill>
                <a:srgbClr val="4B1B0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7353300" y="4286250"/>
            <a:ext cx="1905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Student at UBT</a:t>
            </a:r>
            <a:endParaRPr b="0" i="0" sz="1100" u="none" cap="none" strike="noStrike">
              <a:solidFill>
                <a:srgbClr val="4B1B0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10359725" y="162800"/>
            <a:ext cx="1832400" cy="923400"/>
          </a:xfrm>
          <a:prstGeom prst="rect">
            <a:avLst/>
          </a:prstGeom>
          <a:solidFill>
            <a:srgbClr val="F4FC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CD9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 txBox="1"/>
          <p:nvPr/>
        </p:nvSpPr>
        <p:spPr>
          <a:xfrm>
            <a:off x="395262" y="3864987"/>
            <a:ext cx="11401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-US" sz="4500" u="none" cap="none" strike="noStrike">
                <a:solidFill>
                  <a:srgbClr val="132A1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Why Kosovo, Why Now?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2285975" y="4912737"/>
            <a:ext cx="762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B1B0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Kosovo needs a practical bridge between cadastral records, farmers, and satellite intelligence. TokaIme turns land parcels into live, inspectable decision data for fairer subsidies and better agricultural planning.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025" y="405963"/>
            <a:ext cx="3228975" cy="32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