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  <p:embeddedFont>
      <p:font typeface="Poppins Medium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  <p:embeddedFont>
      <p:font typeface="Poppins SemiBold"/>
      <p:regular r:id="rId37"/>
      <p:bold r:id="rId38"/>
      <p:italic r:id="rId39"/>
      <p:boldItalic r:id="rId40"/>
    </p:embeddedFont>
    <p:embeddedFont>
      <p:font typeface="Poppins ExtraBold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Italic.fntdata"/><Relationship Id="rId20" Type="http://schemas.openxmlformats.org/officeDocument/2006/relationships/font" Target="fonts/Montserrat-bold.fntdata"/><Relationship Id="rId42" Type="http://schemas.openxmlformats.org/officeDocument/2006/relationships/font" Target="fonts/PoppinsExtraBold-boldItalic.fntdata"/><Relationship Id="rId41" Type="http://schemas.openxmlformats.org/officeDocument/2006/relationships/font" Target="fonts/PoppinsExtraBold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regular.fnt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italic.fntdata"/><Relationship Id="rId10" Type="http://schemas.openxmlformats.org/officeDocument/2006/relationships/slide" Target="slides/slide5.xml"/><Relationship Id="rId32" Type="http://schemas.openxmlformats.org/officeDocument/2006/relationships/font" Target="fonts/PoppinsMedium-bold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34" Type="http://schemas.openxmlformats.org/officeDocument/2006/relationships/font" Target="fonts/Poppi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bold.fntdata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38fc99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438fc996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38fc996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438fc996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6.jpg"/><Relationship Id="rId5" Type="http://schemas.openxmlformats.org/officeDocument/2006/relationships/image" Target="../media/image12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299025" y="371600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-323850" y="462915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1F9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52812" y="5002330"/>
            <a:ext cx="639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32A1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From Static Parcels to Living Land Intelligence.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343450" y="6076720"/>
            <a:ext cx="3810000" cy="57300"/>
          </a:xfrm>
          <a:prstGeom prst="rect">
            <a:avLst/>
          </a:prstGeom>
          <a:solidFill>
            <a:srgbClr val="1F9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671112" y="4106292"/>
            <a:ext cx="35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1F92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toka ime </a:t>
            </a:r>
            <a:endParaRPr b="0" i="0" sz="1400" u="none" cap="none" strike="noStrike">
              <a:solidFill>
                <a:srgbClr val="1F92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 title="logoja 2.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9900" y="795463"/>
            <a:ext cx="2975300" cy="3310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32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2095500" y="2183308"/>
            <a:ext cx="80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F92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Challenge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2286000" y="3212008"/>
            <a:ext cx="7620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Cadastral systems focus on legal ownership, but ignore the actual biological and agricultural reality of the land.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4114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B3A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11480" y="5486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32A13"/>
                </a:solidFill>
                <a:latin typeface="Georgia"/>
                <a:ea typeface="Georgia"/>
                <a:cs typeface="Georgia"/>
                <a:sym typeface="Georgia"/>
              </a:rPr>
              <a:t>Current Systems Are Broken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20040" y="1554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783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1097280" y="1755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Fragmented Registries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502920" y="2286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Land data is scattered across incompatible systems. No single source of truth exists.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6217920" y="1554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783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6995160" y="1755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Subsidy Fraud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400800" y="2286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Farmers report inflated land areas. The state pays over 28% in fraudulent claims every year.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20040" y="3840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069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1097280" y="4041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Paper-Based Reports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02920" y="4572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Officials rely on manual documentation. Errors and delays harm policy decisions.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217920" y="3840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4069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6995160" y="4041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No Real-Time Monitoring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400800" y="4572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Crop damage and illegal land changes go undetected for months.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666750" y="476250"/>
            <a:ext cx="108585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Fallow Land Crisis</a:t>
            </a:r>
            <a:endParaRPr b="0" i="0" sz="4800" u="none" cap="none" strike="noStrike">
              <a:solidFill>
                <a:srgbClr val="132A1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1333500" y="1714500"/>
            <a:ext cx="95250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According to ASK (2024):</a:t>
            </a:r>
            <a:endParaRPr b="1" i="0" sz="2400" u="none" cap="none" strike="noStrike">
              <a:solidFill>
                <a:srgbClr val="B91C1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B91C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6,429.78 Hectares</a:t>
            </a:r>
            <a:endParaRPr b="0" i="0" sz="7200" u="none" cap="none" strike="noStrike">
              <a:solidFill>
                <a:srgbClr val="B91C1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Agricultural land in Kosovo remains completely </a:t>
            </a:r>
            <a:r>
              <a:rPr b="0" i="0" lang="en-US" sz="2800" u="none" cap="none" strike="noStrike">
                <a:solidFill>
                  <a:srgbClr val="132A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FALLOW</a:t>
            </a:r>
            <a:r>
              <a:rPr b="0" i="0" lang="en-US" sz="28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b="0" i="0" sz="28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10359725" y="162800"/>
            <a:ext cx="1832400" cy="14547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33625"/>
            <a:ext cx="51435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90750"/>
            <a:ext cx="514350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Solution: Living Registry (AI &amp; Blockchain)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66750" y="5276850"/>
            <a:ext cx="1085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32A13"/>
                </a:solidFill>
                <a:latin typeface="Montserrat"/>
                <a:ea typeface="Montserrat"/>
                <a:cs typeface="Montserrat"/>
                <a:sym typeface="Montserrat"/>
              </a:rPr>
              <a:t>Copyright Protected: Our unified GIS-Blockchain architecture.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2" name="Google Shape;1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6670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952500" y="3048000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Blockchain &amp; Transparency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952500" y="3514725"/>
            <a:ext cx="45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Every planting cycle is recorded as an immutable block. No more room for false reports or alterations to land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0" y="25241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6667500" y="2905125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Chatbot &amp; Assistance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667500" y="337185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Our AI Chatbot helps farmers in real time with crop rotation, and helps institutions generate reports without bureaucracy.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Functional Prototype (Live on Netlify)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9"/>
          <p:cNvGrpSpPr/>
          <p:nvPr/>
        </p:nvGrpSpPr>
        <p:grpSpPr>
          <a:xfrm>
            <a:off x="666750" y="1524000"/>
            <a:ext cx="10858500" cy="4572000"/>
            <a:chOff x="666750" y="1524000"/>
            <a:chExt cx="10858500" cy="4572000"/>
          </a:xfrm>
        </p:grpSpPr>
        <p:sp>
          <p:nvSpPr>
            <p:cNvPr id="157" name="Google Shape;157;p19"/>
            <p:cNvSpPr/>
            <p:nvPr/>
          </p:nvSpPr>
          <p:spPr>
            <a:xfrm>
              <a:off x="666750" y="1524000"/>
              <a:ext cx="51435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8" name="Google Shape;158;p19"/>
            <p:cNvPicPr preferRelativeResize="0"/>
            <p:nvPr/>
          </p:nvPicPr>
          <p:blipFill rotWithShape="1">
            <a:blip r:embed="rId4">
              <a:alphaModFix/>
            </a:blip>
            <a:srcRect b="0" l="397" r="397" t="0"/>
            <a:stretch/>
          </p:blipFill>
          <p:spPr>
            <a:xfrm>
              <a:off x="857250" y="1714500"/>
              <a:ext cx="4762500" cy="2667000"/>
            </a:xfrm>
            <a:prstGeom prst="roundRect">
              <a:avLst>
                <a:gd fmla="val 3571" name="adj"/>
              </a:avLst>
            </a:prstGeom>
            <a:noFill/>
            <a:ln>
              <a:noFill/>
            </a:ln>
          </p:spPr>
        </p:pic>
        <p:grpSp>
          <p:nvGrpSpPr>
            <p:cNvPr id="159" name="Google Shape;159;p19"/>
            <p:cNvGrpSpPr/>
            <p:nvPr/>
          </p:nvGrpSpPr>
          <p:grpSpPr>
            <a:xfrm>
              <a:off x="857250" y="4572000"/>
              <a:ext cx="4762500" cy="762000"/>
              <a:chOff x="857250" y="4572000"/>
              <a:chExt cx="4762500" cy="762000"/>
            </a:xfrm>
          </p:grpSpPr>
          <p:sp>
            <p:nvSpPr>
              <p:cNvPr id="160" name="Google Shape;160;p19"/>
              <p:cNvSpPr/>
              <p:nvPr/>
            </p:nvSpPr>
            <p:spPr>
              <a:xfrm>
                <a:off x="857250" y="4572000"/>
                <a:ext cx="7620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9"/>
              <p:cNvSpPr/>
              <p:nvPr/>
            </p:nvSpPr>
            <p:spPr>
              <a:xfrm>
                <a:off x="1714500" y="4572000"/>
                <a:ext cx="7620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1F92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9"/>
              <p:cNvSpPr txBox="1"/>
              <p:nvPr/>
            </p:nvSpPr>
            <p:spPr>
              <a:xfrm>
                <a:off x="2571750" y="4572000"/>
                <a:ext cx="3048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132A13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Integrated Semaphore System</a:t>
                </a:r>
                <a:endParaRPr b="0" i="0" sz="1400" u="none" cap="none" strike="noStrike">
                  <a:solidFill>
                    <a:srgbClr val="132A13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sp>
          <p:nvSpPr>
            <p:cNvPr id="163" name="Google Shape;163;p19"/>
            <p:cNvSpPr txBox="1"/>
            <p:nvPr/>
          </p:nvSpPr>
          <p:spPr>
            <a:xfrm>
              <a:off x="857250" y="55245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B1B0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View of the functional platform interface.</a:t>
              </a:r>
              <a:endParaRPr b="0" i="0" sz="1100" u="none" cap="none" strike="noStrike">
                <a:solidFill>
                  <a:srgbClr val="4B1B0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6381750" y="1524000"/>
              <a:ext cx="51435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6667500" y="180975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132A1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Technology in Action</a:t>
              </a:r>
              <a:endParaRPr b="0" i="0" sz="20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6667500" y="2286000"/>
              <a:ext cx="4572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1B07"/>
                </a:buClr>
                <a:buSzPts val="1400"/>
                <a:buFont typeface="Montserrat"/>
                <a:buChar char="●"/>
              </a:pPr>
              <a:r>
                <a:rPr b="0" i="0" lang="en-US" sz="1400" u="none" cap="none" strike="noStrike">
                  <a:solidFill>
                    <a:srgbClr val="4B1B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NDVI Satellite Monitoring</a:t>
              </a:r>
              <a:endParaRPr b="0" i="0" sz="14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B1B07"/>
                </a:buClr>
                <a:buSzPts val="1400"/>
                <a:buFont typeface="Montserrat"/>
                <a:buChar char="●"/>
              </a:pPr>
              <a:r>
                <a:rPr b="0" i="0" lang="en-US" sz="1400" u="none" cap="none" strike="noStrike">
                  <a:solidFill>
                    <a:srgbClr val="4B1B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Chatbot Interaction</a:t>
              </a:r>
              <a:endParaRPr b="0" i="0" sz="14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B1B07"/>
                </a:buClr>
                <a:buSzPts val="1400"/>
                <a:buFont typeface="Montserrat"/>
                <a:buChar char="●"/>
              </a:pPr>
              <a:r>
                <a:rPr b="0" i="0" lang="en-US" sz="1400" u="none" cap="none" strike="noStrike">
                  <a:solidFill>
                    <a:srgbClr val="4B1B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Monoculture Alert System</a:t>
              </a:r>
              <a:endParaRPr b="0" i="0" sz="14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67" name="Google Shape;167;p19"/>
            <p:cNvPicPr preferRelativeResize="0"/>
            <p:nvPr/>
          </p:nvPicPr>
          <p:blipFill rotWithShape="1">
            <a:blip r:embed="rId5">
              <a:alphaModFix/>
            </a:blip>
            <a:srcRect b="18750" l="0" r="0" t="18750"/>
            <a:stretch/>
          </p:blipFill>
          <p:spPr>
            <a:xfrm>
              <a:off x="6667500" y="3905250"/>
              <a:ext cx="4572000" cy="1905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</p:grpSp>
      <p:pic>
        <p:nvPicPr>
          <p:cNvPr id="168" name="Google Shape;168;p19"/>
          <p:cNvPicPr preferRelativeResize="0"/>
          <p:nvPr/>
        </p:nvPicPr>
        <p:blipFill rotWithShape="1">
          <a:blip r:embed="rId6">
            <a:alphaModFix/>
          </a:blip>
          <a:srcRect b="18019" l="0" r="0" t="0"/>
          <a:stretch/>
        </p:blipFill>
        <p:spPr>
          <a:xfrm>
            <a:off x="819150" y="1641025"/>
            <a:ext cx="4789724" cy="272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71762"/>
            <a:ext cx="51435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Market Opportunity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66750" y="2786062"/>
            <a:ext cx="514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 the MAFRD 2025-2028 Digital Agriculture Program, there is an urgent need for integration with IPARD and the EU.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66750" y="3833812"/>
            <a:ext cx="54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Early 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66750" y="4300537"/>
            <a:ext cx="514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Tested with farmers in the Prizren region: </a:t>
            </a:r>
            <a:r>
              <a:rPr b="1" i="0" lang="en-US" sz="15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rPr>
              <a:t>90%</a:t>
            </a: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confirmed this solution would save weeks of paperwork.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703218" y="3100387"/>
            <a:ext cx="4500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32A13"/>
                </a:solidFill>
                <a:latin typeface="Montserrat"/>
                <a:ea typeface="Montserrat"/>
                <a:cs typeface="Montserrat"/>
                <a:sym typeface="Montserrat"/>
              </a:rPr>
              <a:t>400K+ 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810375" y="3986212"/>
            <a:ext cx="428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923B"/>
                </a:solidFill>
                <a:latin typeface="Montserrat"/>
                <a:ea typeface="Montserrat"/>
                <a:cs typeface="Montserrat"/>
                <a:sym typeface="Montserrat"/>
              </a:rPr>
              <a:t>Potential Market in Kosovo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810375" y="4462462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Potential expansion across 38 municipalities.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571750"/>
            <a:ext cx="51435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71750"/>
            <a:ext cx="51435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Business Model (Revenue Streams)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66750" y="4895850"/>
            <a:ext cx="1085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rPr>
              <a:t>Projected ARR (2027): €120,000+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952500" y="2905125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B2G SaaS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952500" y="3371850"/>
            <a:ext cx="4572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Annual licenses for municipalities and the Ministry for parcel management.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667500" y="2905125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B2B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667500" y="3371850"/>
            <a:ext cx="4572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Banks and Insurance: Data for land risk assessment.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411480" y="164592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32A13"/>
                </a:solidFill>
                <a:latin typeface="Georgia"/>
                <a:ea typeface="Georgia"/>
                <a:cs typeface="Georgia"/>
                <a:sym typeface="Georgia"/>
              </a:rPr>
              <a:t>SWOT Analysis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11480" y="84124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Toka Ime AI — Strategic Position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20040" y="1261872"/>
            <a:ext cx="5577840" cy="2468880"/>
          </a:xfrm>
          <a:prstGeom prst="rect">
            <a:avLst/>
          </a:prstGeom>
          <a:solidFill>
            <a:srgbClr val="DCFCE7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320040" y="1261872"/>
            <a:ext cx="5577840" cy="38404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429768" y="126187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 Strengths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29768" y="170078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Unique GIS-Blockchain unified architecture (copyright protected)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Real-time NDVI satellite monitoring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AI chatbot for farmers &amp; institutions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Functional prototype already live on Netlify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Strong team across RIT, UBT &amp; FSHMN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217920" y="1261872"/>
            <a:ext cx="5577840" cy="2468880"/>
          </a:xfrm>
          <a:prstGeom prst="rect">
            <a:avLst/>
          </a:prstGeom>
          <a:solidFill>
            <a:srgbClr val="FEF9C3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6217920" y="1261872"/>
            <a:ext cx="5577840" cy="38404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6327648" y="126187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  Weaknesses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6327648" y="170078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Early-stage startup — limited track record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B2G sales cycles are long and slow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Dependent on government adoption &amp; policy alignment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Small team managing complex tech stack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20040" y="3822192"/>
            <a:ext cx="5577840" cy="246888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320040" y="3822192"/>
            <a:ext cx="557784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429768" y="382219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 Opportunities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429768" y="426110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MAFRD 2025-2028 Digital Agriculture Programme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EU IPARD integration requirements for Kosovo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400K+ Ha addressable market across 38 municipalities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Neighbouring Balkan countries face same problems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217920" y="3822192"/>
            <a:ext cx="5577840" cy="2468880"/>
          </a:xfrm>
          <a:prstGeom prst="rect">
            <a:avLst/>
          </a:prstGeom>
          <a:solidFill>
            <a:srgbClr val="FEF2F2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6217920" y="3822192"/>
            <a:ext cx="5577840" cy="38404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6327648" y="382219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  Threats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6327648" y="426110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Government budget constraints &amp; procurement delays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Larger EU GIS vendors entering the Balkan market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Data privacy regulations around land &amp; farmer data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Low digital literacy among rural farmers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6B3A"/>
                </a:solidFill>
                <a:latin typeface="Montserrat"/>
                <a:ea typeface="Montserrat"/>
                <a:cs typeface="Montserrat"/>
                <a:sym typeface="Montserrat"/>
              </a:rPr>
              <a:t>THE TRANSFORMATION OF AGRICULTURAL GOVERNANCE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32A13"/>
                </a:solidFill>
                <a:latin typeface="Georgia"/>
                <a:ea typeface="Georgia"/>
                <a:cs typeface="Georgia"/>
                <a:sym typeface="Georgia"/>
              </a:rPr>
              <a:t>Before  vs  After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20040" y="1417320"/>
            <a:ext cx="5074920" cy="5029200"/>
          </a:xfrm>
          <a:prstGeom prst="rect">
            <a:avLst/>
          </a:prstGeom>
          <a:solidFill>
            <a:srgbClr val="FEF9C3"/>
          </a:solidFill>
          <a:ln cap="flat" cmpd="sng" w="254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320040" y="1417320"/>
            <a:ext cx="5074920" cy="594360"/>
          </a:xfrm>
          <a:prstGeom prst="rect">
            <a:avLst/>
          </a:prstGeom>
          <a:solidFill>
            <a:srgbClr val="FEF3C7"/>
          </a:solidFill>
          <a:ln cap="flat" cmpd="sng" w="254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320040" y="1417320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/>
          <p:nvPr/>
        </p:nvSpPr>
        <p:spPr>
          <a:xfrm>
            <a:off x="960120" y="221284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Fragmented registries across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1363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960120" y="310896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Manual paper reports with errors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0325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960120" y="400507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Unverified subsidy claims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9286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960120" y="490118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No real-time field monitoring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440680" y="3154680"/>
            <a:ext cx="1280160" cy="594360"/>
          </a:xfrm>
          <a:prstGeom prst="rect">
            <a:avLst/>
          </a:prstGeom>
          <a:solidFill>
            <a:srgbClr val="132A13"/>
          </a:solidFill>
          <a:ln cap="flat" cmpd="sng" w="12700">
            <a:solidFill>
              <a:srgbClr val="132A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440680" y="3154680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6766560" y="1417320"/>
            <a:ext cx="5074920" cy="502920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1F9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6766560" y="1417320"/>
            <a:ext cx="5074920" cy="594360"/>
          </a:xfrm>
          <a:prstGeom prst="rect">
            <a:avLst/>
          </a:prstGeom>
          <a:solidFill>
            <a:srgbClr val="DCFCE7"/>
          </a:solidFill>
          <a:ln cap="flat" cmpd="sng" w="25400">
            <a:solidFill>
              <a:srgbClr val="1F9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6766560" y="1417320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923B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/>
          <p:nvPr/>
        </p:nvSpPr>
        <p:spPr>
          <a:xfrm>
            <a:off x="7406640" y="221284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Real-time parcel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31363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7406640" y="310896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AI risk &amp; anomaly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40325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/>
          <p:nvPr/>
        </p:nvSpPr>
        <p:spPr>
          <a:xfrm>
            <a:off x="7406640" y="400507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Verified crop history via blockchain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49286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/>
          <p:nvPr/>
        </p:nvSpPr>
        <p:spPr>
          <a:xfrm>
            <a:off x="7406640" y="490118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Transparent subsidy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2687" r="2687" t="0"/>
          <a:stretch/>
        </p:blipFill>
        <p:spPr>
          <a:xfrm>
            <a:off x="735330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24"/>
          <p:cNvPicPr preferRelativeResize="0"/>
          <p:nvPr/>
        </p:nvPicPr>
        <p:blipFill rotWithShape="1">
          <a:blip r:embed="rId4">
            <a:alphaModFix/>
          </a:blip>
          <a:srcRect b="16676" l="0" r="0" t="16676"/>
          <a:stretch/>
        </p:blipFill>
        <p:spPr>
          <a:xfrm>
            <a:off x="78105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/>
          <p:cNvPicPr preferRelativeResize="0"/>
          <p:nvPr/>
        </p:nvPicPr>
        <p:blipFill rotWithShape="1">
          <a:blip r:embed="rId6">
            <a:alphaModFix/>
          </a:blip>
          <a:srcRect b="11574" l="0" r="0" t="11574"/>
          <a:stretch/>
        </p:blipFill>
        <p:spPr>
          <a:xfrm>
            <a:off x="516255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Our Unique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24"/>
          <p:cNvPicPr preferRelativeResize="0"/>
          <p:nvPr/>
        </p:nvPicPr>
        <p:blipFill rotWithShape="1">
          <a:blip r:embed="rId7">
            <a:alphaModFix/>
          </a:blip>
          <a:srcRect b="0" l="5908" r="5908" t="0"/>
          <a:stretch/>
        </p:blipFill>
        <p:spPr>
          <a:xfrm>
            <a:off x="954405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4" name="Google Shape;264;p24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78105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Riga Sadiku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78105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RIT Kosovo 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67" name="Google Shape;267;p24"/>
          <p:cNvPicPr preferRelativeResize="0"/>
          <p:nvPr/>
        </p:nvPicPr>
        <p:blipFill rotWithShape="1">
          <a:blip r:embed="rId8">
            <a:alphaModFix/>
          </a:blip>
          <a:srcRect b="13316" l="456" r="456" t="13316"/>
          <a:stretch/>
        </p:blipFill>
        <p:spPr>
          <a:xfrm>
            <a:off x="297180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16255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Jona Berbatovci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297180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Olt Imeri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735330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Jona Latifi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954405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Eljona Salihu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297180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FSHMN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544050" y="438150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RIT Kosovo 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516255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RIT Kosovo 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735330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UBT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/>
        </p:nvSpPr>
        <p:spPr>
          <a:xfrm>
            <a:off x="395262" y="3864987"/>
            <a:ext cx="11401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Why US, Why NOW?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2285975" y="4912737"/>
            <a:ext cx="76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Kosovo is entering the era of agricultural digitalization. We are your partner for a greener and more transparent future.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025" y="405963"/>
            <a:ext cx="3228975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